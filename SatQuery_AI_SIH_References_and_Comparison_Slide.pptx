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182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600">
                <a:solidFill>
                  <a:srgbClr val="1E1B4B"/>
                </a:solidFill>
              </a:defRPr>
            </a:pPr>
            <a:r>
              <a:t>SIH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SatQuery AI  |  Bi-Temporal Satellite Intelligence &amp; VQA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85800"/>
            <a:ext cx="5303520" cy="5760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1B4B"/>
                </a:solidFill>
              </a:defRPr>
            </a:pPr>
            <a:r>
              <a:t>❖ References &amp; Research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b="1" sz="1000">
                <a:solidFill>
                  <a:srgbClr val="111827"/>
                </a:solidFill>
              </a:defRPr>
            </a:pPr>
            <a:r>
              <a:t>Satellite Data Platforms: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Copernicus Data Space (Sentinel-1 SAR / Sentinel-2): https://dataspace.copernicus.eu/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USGS EarthExplorer (Landsat-8/9 Multispectral): https://earthexplorer.usgs.gov/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ESA Sentinel Hub Technical Guides: https://sentinels.copernicus.eu/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000">
                <a:solidFill>
                  <a:srgbClr val="111827"/>
                </a:solidFill>
              </a:defRPr>
            </a:pPr>
            <a:r>
              <a:t>Research &amp; Benchmark Datasets: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LEVIR-CD (Bi-Temporal Change Detection): https://chenhao.in/LEVIR/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BigEarthNet (Multispectral Remote Sensing): https://bigearth.net/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RSVQA: Visual Question Answering (IEEE TGRS): https://rsvqa.sylvainlobry.com/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000">
                <a:solidFill>
                  <a:srgbClr val="111827"/>
                </a:solidFill>
              </a:defRPr>
            </a:pPr>
            <a:r>
              <a:t>Feasibility &amp; Geospatial Standards: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OGC GeoTIFF &amp; CRS Coordinate Standards: https://www.ogc.org/standards/geotiff</a:t>
            </a:r>
          </a:p>
          <a:p>
            <a:pPr>
              <a:spcAft>
                <a:spcPts val="100"/>
              </a:spcAft>
              <a:defRPr sz="850">
                <a:solidFill>
                  <a:srgbClr val="1D4ED8"/>
                </a:solidFill>
              </a:defRPr>
            </a:pPr>
            <a:r>
              <a:t>➢ ISRO Bhuvan Open Geoportal: https://bhuvan.nrsc.gov.in/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1B4B"/>
                </a:solidFill>
              </a:defRPr>
            </a:pPr>
            <a:r>
              <a:t>❖ Research &amp; System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115568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E1B4B"/>
                </a:solidFill>
              </a:defRPr>
            </a:pPr>
            <a:r>
              <a:t>Step 1</a:t>
            </a:r>
            <a:br/>
            <a:r>
              <a:t>T1 &amp; T2 Ingestion</a:t>
            </a:r>
          </a:p>
          <a:p>
            <a:pPr algn="ctr">
              <a:spcBef>
                <a:spcPts val="200"/>
              </a:spcBef>
              <a:defRPr sz="750">
                <a:solidFill>
                  <a:srgbClr val="475569"/>
                </a:solidFill>
              </a:defRPr>
            </a:pPr>
            <a:r>
              <a:t>Rasterio &amp; CRS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4663440"/>
            <a:ext cx="1115568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E1B4B"/>
                </a:solidFill>
              </a:defRPr>
            </a:pPr>
            <a:r>
              <a:t>Step 2</a:t>
            </a:r>
            <a:br/>
            <a:r>
              <a:t>Siamese Change Net</a:t>
            </a:r>
          </a:p>
          <a:p>
            <a:pPr algn="ctr">
              <a:spcBef>
                <a:spcPts val="200"/>
              </a:spcBef>
              <a:defRPr sz="750">
                <a:solidFill>
                  <a:srgbClr val="475569"/>
                </a:solidFill>
              </a:defRPr>
            </a:pPr>
            <a:r>
              <a:t>Bounding box &amp; mask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3824" y="4663440"/>
            <a:ext cx="1115568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E1B4B"/>
                </a:solidFill>
              </a:defRPr>
            </a:pPr>
            <a:r>
              <a:t>Step 3</a:t>
            </a:r>
            <a:br/>
            <a:r>
              <a:t>Spectral Transition</a:t>
            </a:r>
          </a:p>
          <a:p>
            <a:pPr algn="ctr">
              <a:spcBef>
                <a:spcPts val="200"/>
              </a:spcBef>
              <a:defRPr sz="750">
                <a:solidFill>
                  <a:srgbClr val="475569"/>
                </a:solidFill>
              </a:defRPr>
            </a:pPr>
            <a:r>
              <a:t>NDVI, NDWI, NDBI deltas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4663440"/>
            <a:ext cx="1115568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E1B4B"/>
                </a:solidFill>
              </a:defRPr>
            </a:pPr>
            <a:r>
              <a:t>Step 4</a:t>
            </a:r>
            <a:br/>
            <a:r>
              <a:t>Evidence &amp; SAR Audit</a:t>
            </a:r>
          </a:p>
          <a:p>
            <a:pPr algn="ctr">
              <a:spcBef>
                <a:spcPts val="200"/>
              </a:spcBef>
              <a:defRPr sz="750">
                <a:solidFill>
                  <a:srgbClr val="475569"/>
                </a:solidFill>
              </a:defRPr>
            </a:pPr>
            <a:r>
              <a:t>Zero-hallucination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685800"/>
            <a:ext cx="557784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77724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1B4B"/>
                </a:solidFill>
              </a:defRPr>
            </a:pPr>
            <a:r>
              <a:t>❖ Comparison with Existing Systems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123444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22960"/>
                <a:gridCol w="822960"/>
                <a:gridCol w="82296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SatQuery AI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GEE (Google)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QGIS / ArcGIS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Standard DL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Bi-Temporal Change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6534"/>
                          </a:solidFill>
                        </a:defRPr>
                      </a:pPr>
                      <a:r>
                        <a:t>☑ (Script)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6534"/>
                          </a:solidFill>
                        </a:defRPr>
                      </a:pPr>
                      <a:r>
                        <a:t>☑ (Manual)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Spectral Deltas (NDVI, NDWI, NDBI)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6534"/>
                          </a:solidFill>
                        </a:defRPr>
                      </a:pPr>
                      <a:r>
                        <a:t>☑ (Manual)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Optical-SAR Multi-Modal Fusion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 (Custom)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Audit-Grade Evidence Extraction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100% Explainable Trace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Contradiction Penalty &amp; Audit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Zero-Hallucination RS-VQA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Mission Control Web Dashboard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☑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 (Editor)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 (Desktop)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91C1C"/>
                          </a:solidFill>
                        </a:defRPr>
                      </a:pPr>
                      <a:r>
                        <a:t>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17920" y="5532120"/>
            <a:ext cx="5303520" cy="7772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E1B4B"/>
                </a:solidFill>
              </a:defRPr>
            </a:pPr>
            <a:r>
              <a:t>💻 Live GitHub: https://github.com/navneetpatel9123-blip/SatQuery.git</a:t>
            </a:r>
          </a:p>
          <a:p>
            <a:pPr>
              <a:spcBef>
                <a:spcPts val="200"/>
              </a:spcBef>
              <a:defRPr b="1" sz="950">
                <a:solidFill>
                  <a:srgbClr val="059669"/>
                </a:solidFill>
              </a:defRPr>
            </a:pPr>
            <a:r>
              <a:t>🚀 Interactive Dashboard Demo: http://localhost:3000/upload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